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integrantes y problema: localizar información y tareas sin perder permisos ni fuentes.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una consulta documental y otra académica. Aclarar entorno local y datos preparados.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qué datos salen hacia proveedores, firma versus cifrado y por qué el modelo no concede permisos.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el Excel: mostrar una HU, su requisito y su caso ejecutado. No leer todas las filas.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Distinguir suites simuladas de inferencias reales; señalar archivos JUnit y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pregunta de nota mínima y la variante errónea con 20. Explicar limitaciones del comparador de hechos.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Distinguir cuentas preparadas, sesiones iniciadas y carga efectivamente medida. Excluir login/calientamiento de latencia; mantener errores en el denominador. La sostenida no completó sus quince minutos: falló por cuota diaria de Gemini. Pico, mezcla ampliada y calibración HTTP documental fallaron en calentamiento; la carga HTTP alta quedó 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 tabla completa en informe sección 6.3 y Excel hoja 11. Los niveles incompletos o fuera del objetivo no aprueban. Explicar la diferencia entre límite del servidor y límite del generador local; no extrapolar a un campus.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Conservar los fallos y distinguir las correcciones anteriores de estos hallazgos abiertos. La cuota es por proyecto/modelo; una prueba corta aprobada no certifica estabilidad.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sesión estudiante1; usar guion. No mostrar archivo .env ni contraseñas al proyectar.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por qué el cambio de alcance es explícito en las tablas y qué sería necesario para desplegar públicamente.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Invitar preguntas. Ensayar: qué significa p95, cómo se autoriza, qué pasa sin fuentes y cómo se reprodujo un defecto.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B59"/>
                </a:solidFill>
              </a:defRPr>
            </a:pPr>
            <a:r>
              <a:t>Gestor Académico Virtual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500"/>
            </a:pPr>
            <a:r>
              <a:t>Pruebas de Software · Grupo 1</a:t>
            </a:r>
          </a:p>
          <a:p>
            <a:pPr>
              <a:spcAft>
                <a:spcPts val="2000"/>
              </a:spcAft>
              <a:defRPr sz="2500"/>
            </a:pPr>
            <a:r>
              <a:t>Moodle + RAG · Validación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Grupo 1 · Pruebas de Software                                            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B59"/>
                </a:solidFill>
              </a:defRPr>
            </a:pPr>
            <a:r>
              <a:t>Problema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500"/>
            </a:pPr>
            <a:r>
              <a:t>Documentos, cursos, docentes, tareas, notas y calendario.</a:t>
            </a:r>
          </a:p>
          <a:p>
            <a:pPr>
              <a:spcAft>
                <a:spcPts val="2000"/>
              </a:spcAft>
              <a:defRPr sz="2500"/>
            </a:pPr>
            <a:r>
              <a:t>Navegación autorizada y planificación semanal.</a:t>
            </a:r>
          </a:p>
          <a:p>
            <a:pPr>
              <a:spcAft>
                <a:spcPts val="2000"/>
              </a:spcAft>
              <a:defRPr sz="2500"/>
            </a:pPr>
            <a:r>
              <a:t>El chat consulta; las escrituras se realizan en Moodle.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Grupo 1 · Pruebas de Software                                            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B59"/>
                </a:solidFill>
              </a:defRPr>
            </a:pPr>
            <a:r>
              <a:t>Arquitectura que se evaluó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/>
            </a:pPr>
            <a:r>
              <a:t>Moodle autoriza · RAG recupera evidencia · IA interpreta.</a:t>
            </a:r>
          </a:p>
        </p:txBody>
      </p:sp>
      <p:pic>
        <p:nvPicPr>
          <p:cNvPr id="4" name="Picture 3" descr="desplie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468880"/>
            <a:ext cx="8869680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Grupo 1 · Pruebas de Software                                            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B59"/>
                </a:solidFill>
              </a:defRPr>
            </a:pPr>
            <a:r>
              <a:t>Requisitos verificables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500"/>
            </a:pPr>
            <a:r>
              <a:t>10 historias de usuario · 36 casos de prueba.</a:t>
            </a:r>
          </a:p>
          <a:p>
            <a:pPr>
              <a:spcAft>
                <a:spcPts val="2000"/>
              </a:spcAft>
              <a:defRPr sz="2500"/>
            </a:pPr>
            <a:r>
              <a:t>Cada caso: datos, pasos, esperado, obtenido y evidencia.</a:t>
            </a:r>
          </a:p>
          <a:p>
            <a:pPr>
              <a:spcAft>
                <a:spcPts val="2000"/>
              </a:spcAft>
              <a:defRPr sz="2500"/>
            </a:pPr>
            <a:r>
              <a:t>Positivos, negativos, límites y cambios de sesión.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Grupo 1 · Pruebas de Software                                            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B59"/>
                </a:solidFill>
              </a:defRPr>
            </a:pPr>
            <a:r>
              <a:t>Estrategia de pruebas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500"/>
            </a:pPr>
            <a:r>
              <a:t>295 pruebas Python · 53 pruebas Moodle.</a:t>
            </a:r>
          </a:p>
          <a:p>
            <a:pPr>
              <a:spcAft>
                <a:spcPts val="2000"/>
              </a:spcAft>
              <a:defRPr sz="2500"/>
            </a:pPr>
            <a:r>
              <a:t>Interfaz controlada + recorridos con IA real.</a:t>
            </a:r>
          </a:p>
          <a:p>
            <a:pPr>
              <a:spcAft>
                <a:spcPts val="2000"/>
              </a:spcAft>
              <a:defRPr sz="2500"/>
            </a:pPr>
            <a:r>
              <a:t>Permisos, fuentes, sesión, navegación y planificación.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Grupo 1 · Pruebas de Software                                            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B59"/>
                </a:solidFill>
              </a:defRPr>
            </a:pPr>
            <a:r>
              <a:t>Calidad de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500"/>
            </a:pPr>
            <a:r>
              <a:t>36/36 positivas · 5/5 abstenciones</a:t>
            </a:r>
          </a:p>
          <a:p>
            <a:pPr>
              <a:spcAft>
                <a:spcPts val="2000"/>
              </a:spcAft>
              <a:defRPr sz="2500"/>
            </a:pPr>
            <a:r>
              <a:t>Objetivo: ≥90% positivas y todas las abstenciones.</a:t>
            </a:r>
          </a:p>
          <a:p>
            <a:pPr>
              <a:spcAft>
                <a:spcPts val="2000"/>
              </a:spcAft>
              <a:defRPr sz="2500"/>
            </a:pPr>
            <a:r>
              <a:t>Además: ambigüedad, premisa errónea y fuera de alcance.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Grupo 1 · Pruebas de Software                                            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B59"/>
                </a:solidFill>
              </a:defRPr>
            </a:pPr>
            <a:r>
              <a:t>Carga ampliada: condiciones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500"/>
            </a:pPr>
            <a:r>
              <a:t>Cuentas distintas · niveles medidos hasta 50.</a:t>
            </a:r>
          </a:p>
          <a:p>
            <a:pPr>
              <a:spcAft>
                <a:spcPts val="2000"/>
              </a:spcAft>
              <a:defRPr sz="2500"/>
            </a:pPr>
            <a:r>
              <a:t>Chat completo y comprobaciones mínimas de respuesta.</a:t>
            </a:r>
          </a:p>
          <a:p>
            <a:pPr>
              <a:spcAft>
                <a:spcPts val="2000"/>
              </a:spcAft>
              <a:defRPr sz="2500"/>
            </a:pPr>
            <a:r>
              <a:t>Carga creciente y recuperación medidas. Sostenida: fallo por cuota.</a:t>
            </a:r>
          </a:p>
          <a:p>
            <a:pPr>
              <a:spcAft>
                <a:spcPts val="2000"/>
              </a:spcAft>
              <a:defRPr sz="2500"/>
            </a:pPr>
            <a:r>
              <a:t>CPU/RAM y sondas HTTP · mismo equipo que Chromium.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Grupo 1 · Pruebas de Software                                            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B59"/>
                </a:solidFill>
              </a:defRPr>
            </a:pPr>
            <a:r>
              <a:t>Carga ampliada: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500"/>
            </a:pPr>
            <a:r>
              <a:t>nivel-10: 100.0% ≤10 s · p95 7.16 s</a:t>
            </a:r>
          </a:p>
          <a:p>
            <a:pPr>
              <a:spcAft>
                <a:spcPts val="2000"/>
              </a:spcAft>
              <a:defRPr sz="2500"/>
            </a:pPr>
            <a:r>
              <a:t>nivel-25: 99.4% ≤10 s · p95 8.55 s</a:t>
            </a:r>
          </a:p>
          <a:p>
            <a:pPr>
              <a:spcAft>
                <a:spcPts val="2000"/>
              </a:spcAft>
              <a:defRPr sz="2500"/>
            </a:pPr>
            <a:r>
              <a:t>nivel-50: 61.636% ≤10 s · p95 13.09 s</a:t>
            </a:r>
          </a:p>
          <a:p>
            <a:pPr>
              <a:spcAft>
                <a:spcPts val="2000"/>
              </a:spcAft>
              <a:defRPr sz="2500"/>
            </a:pPr>
            <a:r>
              <a:t>sostenida-25: 97.333% ≤10 s · p95 8.39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Grupo 1 · Pruebas de Software                                            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B59"/>
                </a:solidFill>
              </a:defRPr>
            </a:pPr>
            <a:r>
              <a:t>Hallazgos y estados abiertos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500"/>
            </a:pPr>
            <a:r>
              <a:t>DEF-08: cuota diaria de Gemini agotada.</a:t>
            </a:r>
          </a:p>
          <a:p>
            <a:pPr>
              <a:spcAft>
                <a:spcPts val="2000"/>
              </a:spcAft>
              <a:defRPr sz="2500"/>
            </a:pPr>
            <a:r>
              <a:t>Sostenida: seis errores; no completó quince minutos.</a:t>
            </a:r>
          </a:p>
          <a:p>
            <a:pPr>
              <a:spcAft>
                <a:spcPts val="2000"/>
              </a:spcAft>
              <a:defRPr sz="2500"/>
            </a:pPr>
            <a:r>
              <a:t>DEF-09: cincuenta cuentas incumplen latencia.</a:t>
            </a:r>
          </a:p>
          <a:p>
            <a:pPr>
              <a:spcAft>
                <a:spcPts val="2000"/>
              </a:spcAft>
              <a:defRPr sz="2500"/>
            </a:pPr>
            <a:r>
              <a:t>Recuperación a diez: aprobada antes del agotamiento.</a:t>
            </a:r>
          </a:p>
          <a:p>
            <a:pPr>
              <a:spcAft>
                <a:spcPts val="2000"/>
              </a:spcAft>
              <a:defRPr sz="2500"/>
            </a:pPr>
            <a:r>
              <a:t>Reprueba pendiente con cuota disponible.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Grupo 1 · Pruebas de Software                                            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B59"/>
                </a:solidFill>
              </a:defRPr>
            </a:pPr>
            <a:r>
              <a:t>Demostración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500"/>
            </a:pPr>
            <a:r>
              <a:t>1. Consultar norma y fuente.</a:t>
            </a:r>
          </a:p>
          <a:p>
            <a:pPr>
              <a:spcAft>
                <a:spcPts val="2000"/>
              </a:spcAft>
              <a:defRPr sz="2500"/>
            </a:pPr>
            <a:r>
              <a:t>2. Consultar cursos y negar una nota ajena.</a:t>
            </a:r>
          </a:p>
          <a:p>
            <a:pPr>
              <a:spcAft>
                <a:spcPts val="2000"/>
              </a:spcAft>
              <a:defRPr sz="2500"/>
            </a:pPr>
            <a:r>
              <a:t>3. Abrir tareas con empate y calendario.</a:t>
            </a:r>
          </a:p>
          <a:p>
            <a:pPr>
              <a:spcAft>
                <a:spcPts val="2000"/>
              </a:spcAft>
              <a:defRPr sz="2500"/>
            </a:pPr>
            <a:r>
              <a:t>4. Planificar con horas explícitas y cambiar horario.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Grupo 1 · Pruebas de Software                                           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B59"/>
                </a:solidFill>
              </a:defRPr>
            </a:pPr>
            <a:r>
              <a:t>Límites y decisiones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500"/>
            </a:pPr>
            <a:r>
              <a:t>Localhost; HTTP interno y HTTPS hacia proveedores.</a:t>
            </a:r>
          </a:p>
          <a:p>
            <a:pPr>
              <a:spcAft>
                <a:spcPts val="2000"/>
              </a:spcAft>
              <a:defRPr sz="2500"/>
            </a:pPr>
            <a:r>
              <a:t>Muestra acotada; sin garantía de producción.</a:t>
            </a:r>
          </a:p>
          <a:p>
            <a:pPr>
              <a:spcAft>
                <a:spcPts val="2000"/>
              </a:spcAft>
              <a:defRPr sz="2500"/>
            </a:pPr>
            <a:r>
              <a:t>Sin historial persistente ni escrituras por chat.</a:t>
            </a:r>
          </a:p>
          <a:p>
            <a:pPr>
              <a:spcAft>
                <a:spcPts val="2000"/>
              </a:spcAft>
              <a:defRPr sz="2500"/>
            </a:pPr>
            <a:r>
              <a:t>Dependencia de conectividad y cuotas de 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Grupo 1 · Pruebas de Software                                           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B59"/>
                </a:solidFill>
              </a:defRPr>
            </a:pPr>
            <a:r>
              <a:t>Evidencia y 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500"/>
            </a:pPr>
            <a:r>
              <a:t>Informe corregido + Excel editable + reportes.</a:t>
            </a:r>
          </a:p>
          <a:p>
            <a:pPr>
              <a:spcAft>
                <a:spcPts val="2000"/>
              </a:spcAft>
              <a:defRPr sz="2500"/>
            </a:pPr>
            <a:r>
              <a:t>Trazabilidad: requisito → HU → caso → resultado.</a:t>
            </a:r>
          </a:p>
          <a:p>
            <a:pPr>
              <a:spcAft>
                <a:spcPts val="2000"/>
              </a:spcAft>
              <a:defRPr sz="2500"/>
            </a:pPr>
            <a:r>
              <a:t>El docente evalúa el cumplimiento y la sustentación.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Grupo 1 · Pruebas de Software                                           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